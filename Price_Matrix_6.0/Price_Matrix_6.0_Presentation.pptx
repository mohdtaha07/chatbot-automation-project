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8" r:id="rId3"/>
    <p:sldId id="269" r:id="rId4"/>
    <p:sldId id="276" r:id="rId5"/>
    <p:sldId id="271" r:id="rId6"/>
    <p:sldId id="281" r:id="rId7"/>
    <p:sldId id="283" r:id="rId8"/>
    <p:sldId id="282" r:id="rId9"/>
    <p:sldId id="274" r:id="rId10"/>
    <p:sldId id="27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Taha" userId="71acb51b1d15d2e0" providerId="LiveId" clId="{53897705-60D9-4C32-AA06-0BA901A3D7BD}"/>
    <pc:docChg chg="modSld">
      <pc:chgData name="Mohd Taha" userId="71acb51b1d15d2e0" providerId="LiveId" clId="{53897705-60D9-4C32-AA06-0BA901A3D7BD}" dt="2026-10-13T15:00:49.241" v="160" actId="20577"/>
      <pc:docMkLst>
        <pc:docMk/>
      </pc:docMkLst>
      <pc:sldChg chg="modSp mod">
        <pc:chgData name="Mohd Taha" userId="71acb51b1d15d2e0" providerId="LiveId" clId="{53897705-60D9-4C32-AA06-0BA901A3D7BD}" dt="2026-10-13T15:00:49.241" v="160" actId="20577"/>
        <pc:sldMkLst>
          <pc:docMk/>
          <pc:sldMk cId="983572347" sldId="256"/>
        </pc:sldMkLst>
        <pc:spChg chg="mod">
          <ac:chgData name="Mohd Taha" userId="71acb51b1d15d2e0" providerId="LiveId" clId="{53897705-60D9-4C32-AA06-0BA901A3D7BD}" dt="2026-10-13T14:59:17.016" v="77" actId="115"/>
          <ac:spMkLst>
            <pc:docMk/>
            <pc:sldMk cId="983572347" sldId="256"/>
            <ac:spMk id="3" creationId="{617E1CBB-AF57-3F2D-3AD0-7A6F5C29C0A9}"/>
          </ac:spMkLst>
        </pc:spChg>
        <pc:spChg chg="mod">
          <ac:chgData name="Mohd Taha" userId="71acb51b1d15d2e0" providerId="LiveId" clId="{53897705-60D9-4C32-AA06-0BA901A3D7BD}" dt="2026-10-13T15:00:01.720" v="158" actId="115"/>
          <ac:spMkLst>
            <pc:docMk/>
            <pc:sldMk cId="983572347" sldId="256"/>
            <ac:spMk id="4" creationId="{B2CA2278-3693-E2D0-9D5D-F914C1D8A271}"/>
          </ac:spMkLst>
        </pc:spChg>
        <pc:spChg chg="mod">
          <ac:chgData name="Mohd Taha" userId="71acb51b1d15d2e0" providerId="LiveId" clId="{53897705-60D9-4C32-AA06-0BA901A3D7BD}" dt="2026-10-13T15:00:49.241" v="160" actId="20577"/>
          <ac:spMkLst>
            <pc:docMk/>
            <pc:sldMk cId="983572347" sldId="256"/>
            <ac:spMk id="8" creationId="{99FCA55D-A987-694D-E831-6201821D5BF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CE3A7E-C01D-95F3-953D-10924AFF7C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8DF76-461C-0DF9-C6AC-C76390BAB2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582BA-7EFE-407E-89C4-0B93D6902EB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3B6F2-060B-2A7D-7267-3DD694FDFB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BA839-3ABC-5C0D-B49D-B8F36CE4D4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285F1-9BFD-45D1-BC78-62ED228D70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70449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93DB3-DD50-4BCB-808F-056A97D70943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895A5-E90E-45A6-8EC9-92031BC7B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42898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AA8A-0461-E3D2-B78A-78BA4BEFE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4A8B7-25F6-FC66-6BBD-59EEC98E1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08EC6-70D8-57A7-4958-EB39C4D2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75A61-AC31-040F-F754-9F799CDE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B090F-A0DD-F788-C924-F8F11C7F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64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D1550-720F-1551-7ECD-38E0A181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52ED2-9EAE-3FC1-552D-936317F72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3D6D7-9C62-0BA4-ECCE-C7F1B498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4C0DA-BD3E-2922-843E-052FCBAF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66839-9AC9-7FFA-6B9C-90E48BA1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347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AA9B-5C3B-B473-97BC-C563A1B5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81002-C0AB-597C-017F-395D4D440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6A9F7-3A4B-FD87-C0E7-6309184F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3DB98-A48F-F5EE-CCA5-1DE7A1AD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57016-015F-3B6C-A134-3212E7F6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911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3EFD-CC5D-DB08-961B-C3B9356A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4AC6C-EC53-1A3D-ABF6-B5B34FB17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ACC6C-4EC4-0CED-0818-7EAEC8945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06209-BD80-EEF0-1DDC-5C63F1DD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34277-06EF-8234-188E-19A31C38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DA4A4-6F1E-3530-0EF3-30D1912F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31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02AC-976D-774F-026F-89DEEFBE9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03695-CC07-353B-DB24-4D620826C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9E3ED-3C4D-5DB7-3580-0044FCB88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AA589-B8EB-B021-2764-A6606477B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0EB89-042B-75BE-B3A3-8EF0E3348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00D317-6560-763B-0171-5DCDF388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9185F-70EF-DEBC-EA5D-4A445E84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E1051-F31E-D5D1-E18E-D686B9215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45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F6887-0403-6A89-E11C-79FDC369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7A29C-DA86-EC2B-2852-2EAA3421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45625-7DFF-9CE8-3985-DFBBFC4F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5EE1F-503A-BD55-1AFB-01B04AF4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74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F3978-FE3A-4595-3568-DBE97412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05577-633A-F73F-F2EF-7CC15E881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29FA2-3A34-82F4-5298-1C3972E3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2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6A3D7-DCC9-3DBA-6701-3FFDCF59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B413-97C6-02AF-ED0F-8E540975C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371D3-C073-996F-A44C-FF2D185BC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4B48A-6110-CA23-CB80-3E94220A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DB034-A781-2AE2-0F77-74C7AE9F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4FA56-B522-EF1F-0376-62598D02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9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9E051-8572-1FE9-6391-B9EA65B3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3479F-ED9F-952E-3E3E-E780B3039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73381-BD8B-95D9-C784-123C42A6A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E1BDA-A36A-B539-4A4D-1884749C7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73645-DE86-EF56-EE24-EBF5D1A1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461E6-E567-3384-166A-3A540924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01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9D13C-747B-5CE2-C2D9-9C5AB480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3AD1A-CEE9-D8D7-CD69-52E7162B0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5284D-C200-2179-9F96-7F0CE1BF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7A3B2-FA29-2320-C4FE-703F5D73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ED84-8891-7E35-ABFF-C1F1EA4A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92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F725E-4475-7435-3A50-D8944F08E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7C3BB-411D-B43A-D535-F3D5BBF00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4230D-63A7-03DB-D233-64B38F57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348B5-6EAA-E750-9B01-50818773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79E0-EF84-8A6D-5F3F-5FE9CDB7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33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352E5C-2F4B-37A6-16C6-3B82ED91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995D9-963F-381A-9472-D3D568B2F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7D178-FF8C-8CF3-1B0A-A7E7FEE44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6C7B9-7CC0-4911-9AF6-AED46E45886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02D80-5D6B-B4FF-EBA5-D3FE81A2D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08575-0B25-2EE8-105C-FEB1BB797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47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B8FA-9FD4-DF1E-8D05-F601315166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				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9FCA55D-A987-694D-E831-6201821D5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409" y="1376739"/>
            <a:ext cx="10972800" cy="5322011"/>
          </a:xfrm>
        </p:spPr>
        <p:txBody>
          <a:bodyPr>
            <a:noAutofit/>
          </a:bodyPr>
          <a:lstStyle/>
          <a:p>
            <a:r>
              <a:rPr lang="en-IN" sz="5400" dirty="0">
                <a:latin typeface="Trebuchet MS" panose="020B0603020202020204" pitchFamily="34" charset="0"/>
              </a:rPr>
              <a:t>Summer Training Presentation</a:t>
            </a:r>
            <a:endParaRPr lang="en-IN" sz="3200" b="1" dirty="0">
              <a:latin typeface="Trebuchet MS" panose="020B0603020202020204" pitchFamily="34" charset="0"/>
            </a:endParaRPr>
          </a:p>
          <a:p>
            <a:endParaRPr lang="en-IN" sz="1600" b="1" dirty="0">
              <a:latin typeface="Trebuchet MS" panose="020B0603020202020204" pitchFamily="34" charset="0"/>
            </a:endParaRPr>
          </a:p>
          <a:p>
            <a:r>
              <a:rPr lang="en-IN" sz="2800" b="1" dirty="0">
                <a:latin typeface="Trebuchet MS" panose="020B0603020202020204" pitchFamily="34" charset="0"/>
              </a:rPr>
              <a:t>Price </a:t>
            </a:r>
            <a:r>
              <a:rPr lang="en-IN" sz="2800" b="1">
                <a:latin typeface="Trebuchet MS" panose="020B0603020202020204" pitchFamily="34" charset="0"/>
              </a:rPr>
              <a:t>Matrix : </a:t>
            </a:r>
            <a:r>
              <a:rPr lang="en-IN" sz="2800" b="1" dirty="0">
                <a:latin typeface="Trebuchet MS" panose="020B0603020202020204" pitchFamily="34" charset="0"/>
              </a:rPr>
              <a:t>Live Price Comparison across Amazon India &amp; Flipkart</a:t>
            </a:r>
            <a:r>
              <a:rPr lang="en-IN" sz="3600" b="1" dirty="0"/>
              <a:t> </a:t>
            </a:r>
          </a:p>
          <a:p>
            <a:endParaRPr lang="en-IN" sz="3200" dirty="0"/>
          </a:p>
          <a:p>
            <a:pPr algn="l"/>
            <a:endParaRPr lang="en-IN" sz="2800" dirty="0"/>
          </a:p>
          <a:p>
            <a:endParaRPr lang="en-IN" dirty="0"/>
          </a:p>
          <a:p>
            <a:endParaRPr lang="en-IN" dirty="0"/>
          </a:p>
          <a:p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0DADA8-0C51-2EEC-0CF1-95C5C83F674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A21519-5B45-B4EB-1438-13D4194FE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621119-736C-9442-32B2-785335AAC880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17E1CBB-AF57-3F2D-3AD0-7A6F5C29C0A9}"/>
              </a:ext>
            </a:extLst>
          </p:cNvPr>
          <p:cNvSpPr/>
          <p:nvPr/>
        </p:nvSpPr>
        <p:spPr>
          <a:xfrm>
            <a:off x="2301410" y="3959890"/>
            <a:ext cx="3708971" cy="2037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u="sng" dirty="0">
                <a:latin typeface="Trebuchet MS" panose="020B0603020202020204" pitchFamily="34" charset="0"/>
              </a:rPr>
              <a:t>Name</a:t>
            </a:r>
            <a:r>
              <a:rPr lang="en-US" sz="2400" dirty="0">
                <a:latin typeface="Trebuchet MS" panose="020B0603020202020204" pitchFamily="34" charset="0"/>
              </a:rPr>
              <a:t>-Mohd Taha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CA2278-3693-E2D0-9D5D-F914C1D8A271}"/>
              </a:ext>
            </a:extLst>
          </p:cNvPr>
          <p:cNvSpPr/>
          <p:nvPr/>
        </p:nvSpPr>
        <p:spPr>
          <a:xfrm>
            <a:off x="7140538" y="3959890"/>
            <a:ext cx="4293815" cy="20377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u="sng" dirty="0">
                <a:latin typeface="Trebuchet MS" panose="020B0603020202020204" pitchFamily="34" charset="0"/>
              </a:rPr>
              <a:t>AKTU Roll No</a:t>
            </a:r>
            <a:r>
              <a:rPr lang="en-US" sz="2400" dirty="0">
                <a:latin typeface="Trebuchet MS" panose="020B0603020202020204" pitchFamily="34" charset="0"/>
              </a:rPr>
              <a:t>.-2400101530077</a:t>
            </a:r>
          </a:p>
        </p:txBody>
      </p:sp>
    </p:spTree>
    <p:extLst>
      <p:ext uri="{BB962C8B-B14F-4D97-AF65-F5344CB8AC3E}">
        <p14:creationId xmlns:p14="http://schemas.microsoft.com/office/powerpoint/2010/main" val="98357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8395E-D611-AA84-9603-DC0ABB70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ADB9452-4841-5900-0A13-8D4F4692FC8F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DF0CF307-3F72-574E-8244-07B1DE4F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Outline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A7C4B76-F98F-9764-43EB-3E3BF4F8E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3762248"/>
          </a:xfrm>
        </p:spPr>
        <p:txBody>
          <a:bodyPr>
            <a:normAutofit/>
          </a:bodyPr>
          <a:lstStyle/>
          <a:p>
            <a:r>
              <a:rPr lang="en-IN" dirty="0">
                <a:latin typeface="Trebuchet MS" panose="020B0603020202020204" pitchFamily="34" charset="0"/>
              </a:rPr>
              <a:t>Introduction</a:t>
            </a:r>
          </a:p>
          <a:p>
            <a:r>
              <a:rPr lang="en-IN" dirty="0">
                <a:latin typeface="Trebuchet MS" panose="020B0603020202020204" pitchFamily="34" charset="0"/>
              </a:rPr>
              <a:t>Objectives</a:t>
            </a:r>
          </a:p>
          <a:p>
            <a:r>
              <a:rPr lang="en-US" dirty="0">
                <a:latin typeface="Trebuchet MS" panose="020B0603020202020204" pitchFamily="34" charset="0"/>
              </a:rPr>
              <a:t>Methodology Used</a:t>
            </a:r>
          </a:p>
          <a:p>
            <a:r>
              <a:rPr lang="en-US" dirty="0">
                <a:latin typeface="Trebuchet MS" panose="020B0603020202020204" pitchFamily="34" charset="0"/>
              </a:rPr>
              <a:t>Implementation</a:t>
            </a:r>
          </a:p>
          <a:p>
            <a:r>
              <a:rPr lang="en-US" dirty="0">
                <a:latin typeface="Trebuchet MS" panose="020B0603020202020204" pitchFamily="34" charset="0"/>
              </a:rPr>
              <a:t>Conclusion</a:t>
            </a:r>
          </a:p>
          <a:p>
            <a:r>
              <a:rPr lang="en-US" dirty="0">
                <a:latin typeface="Trebuchet MS" panose="020B0603020202020204" pitchFamily="34" charset="0"/>
              </a:rPr>
              <a:t>References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93AFAF28-1497-1B30-B572-F6CBEF41A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0152F6-A079-342A-72A9-9C63EE555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8C9FF8-75AE-FC60-0ACA-B8FAFC66720B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40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47C71-DE9E-8528-C01E-ADC1A46B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90606DC-41B8-1E10-E67A-B6E250C5242D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EE97636-D936-7382-0E0D-A61B6101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Introduction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A456588-EAF7-F166-DA41-437D69FDE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6200000" cy="4300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2000" b="0" i="0" dirty="0">
                <a:solidFill>
                  <a:srgbClr val="222222"/>
                </a:solidFill>
                <a:latin typeface="Trebuchet MS"/>
              </a:rPr>
              <a:t>Comparing prices by hand across shops is slow, and product titles and variants rarely line up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2000" b="0" i="0" dirty="0">
                <a:solidFill>
                  <a:srgbClr val="222222"/>
                </a:solidFill>
                <a:latin typeface="Trebuchet MS"/>
              </a:rPr>
              <a:t>Price Matrix scrapes Amazon India and Flipkart live for any product category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2000" b="0" i="0" dirty="0">
                <a:solidFill>
                  <a:srgbClr val="222222"/>
                </a:solidFill>
                <a:latin typeface="Trebuchet MS"/>
              </a:rPr>
              <a:t>A category engine tags each listing with the right specs, from ACs to shoes to books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IN" sz="2000" b="0" i="0" dirty="0">
                <a:solidFill>
                  <a:srgbClr val="222222"/>
                </a:solidFill>
                <a:latin typeface="Trebuchet MS"/>
              </a:rPr>
              <a:t>Cross-store matching reports a real saving, or "No match" when unsure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000" b="0" i="0" dirty="0">
                <a:solidFill>
                  <a:srgbClr val="222222"/>
                </a:solidFill>
                <a:latin typeface="Trebuchet MS"/>
              </a:rPr>
              <a:t>A dashboard and an offline assistant explore the results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A376CD85-B5AF-EEF0-EED3-DA579B988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B048C48-19D0-B154-6352-AF0418FCF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C6D13B-7E07-8C37-D1B0-F323D060342D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Stat 1"/>
          <p:cNvSpPr/>
          <p:nvPr/>
        </p:nvSpPr>
        <p:spPr>
          <a:xfrm>
            <a:off x="7500000" y="1950000"/>
            <a:ext cx="1950000" cy="195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3600" b="1" i="0" dirty="0">
                <a:solidFill>
                  <a:srgbClr val="1F3864"/>
                </a:solidFill>
                <a:latin typeface="Trebuchet MS"/>
              </a:rPr>
              <a:t>23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22222"/>
                </a:solidFill>
                <a:latin typeface="Trebuchet MS"/>
              </a:rPr>
              <a:t>verticals modelled, plus a generic fallback</a:t>
            </a:r>
          </a:p>
        </p:txBody>
      </p:sp>
      <p:sp>
        <p:nvSpPr>
          <p:cNvPr id="102" name="Stat 2"/>
          <p:cNvSpPr/>
          <p:nvPr/>
        </p:nvSpPr>
        <p:spPr>
          <a:xfrm>
            <a:off x="9600000" y="1950000"/>
            <a:ext cx="1950000" cy="195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3600" b="1" i="0" dirty="0">
                <a:solidFill>
                  <a:srgbClr val="1F3864"/>
                </a:solidFill>
                <a:latin typeface="Trebuchet MS"/>
              </a:rPr>
              <a:t>2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22222"/>
                </a:solidFill>
                <a:latin typeface="Trebuchet MS"/>
              </a:rPr>
              <a:t>stores compared live</a:t>
            </a:r>
          </a:p>
        </p:txBody>
      </p:sp>
      <p:sp>
        <p:nvSpPr>
          <p:cNvPr id="103" name="Stat 3"/>
          <p:cNvSpPr/>
          <p:nvPr/>
        </p:nvSpPr>
        <p:spPr>
          <a:xfrm>
            <a:off x="7500000" y="4050000"/>
            <a:ext cx="1950000" cy="195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3600" b="1" i="0" dirty="0">
                <a:solidFill>
                  <a:srgbClr val="1F3864"/>
                </a:solidFill>
                <a:latin typeface="Trebuchet MS"/>
              </a:rPr>
              <a:t>0-100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22222"/>
                </a:solidFill>
                <a:latin typeface="Trebuchet MS"/>
              </a:rPr>
              <a:t>value score per listing</a:t>
            </a:r>
          </a:p>
        </p:txBody>
      </p:sp>
      <p:sp>
        <p:nvSpPr>
          <p:cNvPr id="104" name="Stat 4"/>
          <p:cNvSpPr/>
          <p:nvPr/>
        </p:nvSpPr>
        <p:spPr>
          <a:xfrm>
            <a:off x="9600000" y="4050000"/>
            <a:ext cx="1950000" cy="195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3600" b="1" i="0" dirty="0">
                <a:solidFill>
                  <a:srgbClr val="1F3864"/>
                </a:solidFill>
                <a:latin typeface="Trebuchet MS"/>
              </a:rPr>
              <a:t>0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22222"/>
                </a:solidFill>
                <a:latin typeface="Trebuchet MS"/>
              </a:rPr>
              <a:t>external requests: runs fully offline</a:t>
            </a:r>
          </a:p>
        </p:txBody>
      </p:sp>
    </p:spTree>
    <p:extLst>
      <p:ext uri="{BB962C8B-B14F-4D97-AF65-F5344CB8AC3E}">
        <p14:creationId xmlns:p14="http://schemas.microsoft.com/office/powerpoint/2010/main" val="145148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BDF9C-84FC-7749-B01D-2F2D9E8A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E3DE789-FF44-6F5F-7015-C7478428CB32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AFBB1A5-D565-31E4-6453-198364F3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Objectives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8A98B168-69BD-F030-901E-FCA228A0D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0EBE21F-E3F4-3502-03F3-248572305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A95CCD-FAEE-5F21-1300-761968C5C11C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bjective 1"/>
          <p:cNvSpPr/>
          <p:nvPr/>
        </p:nvSpPr>
        <p:spPr>
          <a:xfrm>
            <a:off x="838200" y="1950000"/>
            <a:ext cx="5150000" cy="133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90000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Compare prices live across Amazon India and Flipkart for any product category</a:t>
            </a:r>
          </a:p>
        </p:txBody>
      </p:sp>
      <p:sp>
        <p:nvSpPr>
          <p:cNvPr id="106" name="Objective number 1"/>
          <p:cNvSpPr/>
          <p:nvPr/>
        </p:nvSpPr>
        <p:spPr>
          <a:xfrm>
            <a:off x="1018200" y="2345000"/>
            <a:ext cx="540000" cy="54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07" name="Objective 2"/>
          <p:cNvSpPr/>
          <p:nvPr/>
        </p:nvSpPr>
        <p:spPr>
          <a:xfrm>
            <a:off x="6203800" y="1950000"/>
            <a:ext cx="5150000" cy="133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90000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Extract category-aware specs (RAM, tonnage, UK size, pages) from messy titles</a:t>
            </a:r>
          </a:p>
        </p:txBody>
      </p:sp>
      <p:sp>
        <p:nvSpPr>
          <p:cNvPr id="108" name="Objective number 2"/>
          <p:cNvSpPr/>
          <p:nvPr/>
        </p:nvSpPr>
        <p:spPr>
          <a:xfrm>
            <a:off x="6383800" y="2345000"/>
            <a:ext cx="540000" cy="54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09" name="Objective 3"/>
          <p:cNvSpPr/>
          <p:nvPr/>
        </p:nvSpPr>
        <p:spPr>
          <a:xfrm>
            <a:off x="838200" y="3470000"/>
            <a:ext cx="5150000" cy="133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90000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Match the same product across stores and reject fake savings</a:t>
            </a:r>
          </a:p>
        </p:txBody>
      </p:sp>
      <p:sp>
        <p:nvSpPr>
          <p:cNvPr id="110" name="Objective number 3"/>
          <p:cNvSpPr/>
          <p:nvPr/>
        </p:nvSpPr>
        <p:spPr>
          <a:xfrm>
            <a:off x="1018200" y="3865000"/>
            <a:ext cx="540000" cy="54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11" name="Objective 4"/>
          <p:cNvSpPr/>
          <p:nvPr/>
        </p:nvSpPr>
        <p:spPr>
          <a:xfrm>
            <a:off x="6203800" y="3470000"/>
            <a:ext cx="5150000" cy="133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90000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Rank listings with a 0-100 value score from price, rating, reviews and discount</a:t>
            </a:r>
          </a:p>
        </p:txBody>
      </p:sp>
      <p:sp>
        <p:nvSpPr>
          <p:cNvPr id="112" name="Objective number 4"/>
          <p:cNvSpPr/>
          <p:nvPr/>
        </p:nvSpPr>
        <p:spPr>
          <a:xfrm>
            <a:off x="6383800" y="3865000"/>
            <a:ext cx="540000" cy="54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13" name="Objective 5"/>
          <p:cNvSpPr/>
          <p:nvPr/>
        </p:nvSpPr>
        <p:spPr>
          <a:xfrm>
            <a:off x="838200" y="4990000"/>
            <a:ext cx="5150000" cy="133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90000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Present results in an interactive dashboard with filters, charts and exports</a:t>
            </a:r>
          </a:p>
        </p:txBody>
      </p:sp>
      <p:sp>
        <p:nvSpPr>
          <p:cNvPr id="114" name="Objective number 5"/>
          <p:cNvSpPr/>
          <p:nvPr/>
        </p:nvSpPr>
        <p:spPr>
          <a:xfrm>
            <a:off x="1018200" y="5385000"/>
            <a:ext cx="540000" cy="54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115" name="Objective 6"/>
          <p:cNvSpPr/>
          <p:nvPr/>
        </p:nvSpPr>
        <p:spPr>
          <a:xfrm>
            <a:off x="6203800" y="4990000"/>
            <a:ext cx="5150000" cy="133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90000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Answer questions about the user's own results with an offline assistant</a:t>
            </a:r>
          </a:p>
        </p:txBody>
      </p:sp>
      <p:sp>
        <p:nvSpPr>
          <p:cNvPr id="116" name="Objective number 6"/>
          <p:cNvSpPr/>
          <p:nvPr/>
        </p:nvSpPr>
        <p:spPr>
          <a:xfrm>
            <a:off x="6383800" y="5385000"/>
            <a:ext cx="540000" cy="54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23725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F2EF-3D8E-26DF-0B25-96040AED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9923E21-A5E8-9FA6-C767-4CD32E84250A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CD239A6-9BE3-556E-BDE6-9127FAAE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Methodology Used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766D554F-754A-1E29-3ADF-C021AB95C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46C0CA-D25D-E5D0-9009-59AFFA163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35A781-EF00-8A63-6FB9-E56AF5533D34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Step header 1"/>
          <p:cNvSpPr/>
          <p:nvPr/>
        </p:nvSpPr>
        <p:spPr>
          <a:xfrm>
            <a:off x="838200" y="1950000"/>
            <a:ext cx="1950000" cy="64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  <a:latin typeface="Trebuchet MS"/>
              </a:rPr>
              <a:t>1  Search</a:t>
            </a:r>
          </a:p>
        </p:txBody>
      </p:sp>
      <p:sp>
        <p:nvSpPr>
          <p:cNvPr id="118" name="Step body 1"/>
          <p:cNvSpPr/>
          <p:nvPr/>
        </p:nvSpPr>
        <p:spPr>
          <a:xfrm>
            <a:off x="838200" y="2590000"/>
            <a:ext cx="1950000" cy="265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Query plus category (auto-detected or pinned) goes to both stores</a:t>
            </a:r>
          </a:p>
        </p:txBody>
      </p:sp>
      <p:sp>
        <p:nvSpPr>
          <p:cNvPr id="119" name="Step header 2"/>
          <p:cNvSpPr/>
          <p:nvPr/>
        </p:nvSpPr>
        <p:spPr>
          <a:xfrm>
            <a:off x="2979600" y="1950000"/>
            <a:ext cx="1950000" cy="64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  <a:latin typeface="Trebuchet MS"/>
              </a:rPr>
              <a:t>2  Scrape</a:t>
            </a:r>
          </a:p>
        </p:txBody>
      </p:sp>
      <p:sp>
        <p:nvSpPr>
          <p:cNvPr id="120" name="Step body 2"/>
          <p:cNvSpPr/>
          <p:nvPr/>
        </p:nvSpPr>
        <p:spPr>
          <a:xfrm>
            <a:off x="2979600" y="2590000"/>
            <a:ext cx="1950000" cy="265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Selenium and Chrome; UA rotation, backoff, CAPTCHA detection, per-store isolation</a:t>
            </a:r>
          </a:p>
        </p:txBody>
      </p:sp>
      <p:sp>
        <p:nvSpPr>
          <p:cNvPr id="121" name="Step header 3"/>
          <p:cNvSpPr/>
          <p:nvPr/>
        </p:nvSpPr>
        <p:spPr>
          <a:xfrm>
            <a:off x="5121000" y="1950000"/>
            <a:ext cx="1950000" cy="64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  <a:latin typeface="Trebuchet MS"/>
              </a:rPr>
              <a:t>3  Parse</a:t>
            </a:r>
          </a:p>
        </p:txBody>
      </p:sp>
      <p:sp>
        <p:nvSpPr>
          <p:cNvPr id="122" name="Step body 3"/>
          <p:cNvSpPr/>
          <p:nvPr/>
        </p:nvSpPr>
        <p:spPr>
          <a:xfrm>
            <a:off x="5121000" y="2590000"/>
            <a:ext cx="1950000" cy="265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Category-aware spec extraction, brand detection, junk-title guard</a:t>
            </a:r>
          </a:p>
        </p:txBody>
      </p:sp>
      <p:sp>
        <p:nvSpPr>
          <p:cNvPr id="123" name="Step header 4"/>
          <p:cNvSpPr/>
          <p:nvPr/>
        </p:nvSpPr>
        <p:spPr>
          <a:xfrm>
            <a:off x="7262400" y="1950000"/>
            <a:ext cx="1950000" cy="64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  <a:latin typeface="Trebuchet MS"/>
              </a:rPr>
              <a:t>4  Match</a:t>
            </a:r>
          </a:p>
        </p:txBody>
      </p:sp>
      <p:sp>
        <p:nvSpPr>
          <p:cNvPr id="124" name="Step body 4"/>
          <p:cNvSpPr/>
          <p:nvPr/>
        </p:nvSpPr>
        <p:spPr>
          <a:xfrm>
            <a:off x="7262400" y="2590000"/>
            <a:ext cx="1950000" cy="265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Brand-bucketed model and spec scoring; conflicts and accessories rejected</a:t>
            </a:r>
          </a:p>
        </p:txBody>
      </p:sp>
      <p:sp>
        <p:nvSpPr>
          <p:cNvPr id="125" name="Step header 5"/>
          <p:cNvSpPr/>
          <p:nvPr/>
        </p:nvSpPr>
        <p:spPr>
          <a:xfrm>
            <a:off x="9403800" y="1950000"/>
            <a:ext cx="1950000" cy="64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  <a:latin typeface="Trebuchet MS"/>
              </a:rPr>
              <a:t>5  Analyse</a:t>
            </a:r>
          </a:p>
        </p:txBody>
      </p:sp>
      <p:sp>
        <p:nvSpPr>
          <p:cNvPr id="126" name="Step body 5"/>
          <p:cNvSpPr/>
          <p:nvPr/>
        </p:nvSpPr>
        <p:spPr>
          <a:xfrm>
            <a:off x="9403800" y="2590000"/>
            <a:ext cx="1950000" cy="265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Value score, savings and charts; Flask API streams progress over SSE</a:t>
            </a:r>
          </a:p>
        </p:txBody>
      </p:sp>
      <p:sp>
        <p:nvSpPr>
          <p:cNvPr id="127" name="Tech stack"/>
          <p:cNvSpPr/>
          <p:nvPr/>
        </p:nvSpPr>
        <p:spPr>
          <a:xfrm>
            <a:off x="838200" y="5500000"/>
            <a:ext cx="10515600" cy="700000"/>
          </a:xfrm>
          <a:prstGeom prst="rect">
            <a:avLst/>
          </a:prstGeom>
          <a:noFill/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dirty="0">
                <a:solidFill>
                  <a:srgbClr val="1F3864"/>
                </a:solidFill>
                <a:latin typeface="Trebuchet MS"/>
              </a:rPr>
              <a:t>Tech stack:  </a:t>
            </a:r>
            <a:r>
              <a:rPr lang="en-IN" sz="1400" b="0" i="0" dirty="0">
                <a:solidFill>
                  <a:srgbClr val="222222"/>
                </a:solidFill>
                <a:latin typeface="Trebuchet MS"/>
              </a:rPr>
              <a:t>Python 3.9+  |  Selenium 4  |  Flask + SSE  |  single-file HTML/JS dashboard  |  unittest</a:t>
            </a:r>
          </a:p>
        </p:txBody>
      </p:sp>
    </p:spTree>
    <p:extLst>
      <p:ext uri="{BB962C8B-B14F-4D97-AF65-F5344CB8AC3E}">
        <p14:creationId xmlns:p14="http://schemas.microsoft.com/office/powerpoint/2010/main" val="3995706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8CF8C-2BDD-6010-6AD7-5EA18DA5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DE7717D-4D77-6308-9596-EA4B4A29ED38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93504F4-AD82-7021-F27D-60E881D82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Implementation: Architecture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7CD585F3-CAA9-CAE7-DAA8-3C58D34F0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EAE96C-83DF-530A-844A-9A6ADE9AA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9520B5D-17CA-63E0-95CE-AC4DFA702EAA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Module name 1"/>
          <p:cNvSpPr/>
          <p:nvPr/>
        </p:nvSpPr>
        <p:spPr>
          <a:xfrm>
            <a:off x="838200" y="1950000"/>
            <a:ext cx="3000000" cy="64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i="0" dirty="0">
                <a:solidFill>
                  <a:srgbClr val="FFFFFF"/>
                </a:solidFill>
                <a:latin typeface="Trebuchet MS"/>
              </a:rPr>
              <a:t>categories.py</a:t>
            </a:r>
          </a:p>
        </p:txBody>
      </p:sp>
      <p:sp>
        <p:nvSpPr>
          <p:cNvPr id="129" name="Module role 1"/>
          <p:cNvSpPr/>
          <p:nvPr/>
        </p:nvSpPr>
        <p:spPr>
          <a:xfrm>
            <a:off x="3838200" y="1950000"/>
            <a:ext cx="7515600" cy="64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222222"/>
                </a:solidFill>
                <a:latin typeface="Trebuchet MS"/>
              </a:rPr>
              <a:t>Category engine: detection, spec rules, variant guards</a:t>
            </a:r>
          </a:p>
        </p:txBody>
      </p:sp>
      <p:sp>
        <p:nvSpPr>
          <p:cNvPr id="130" name="Module name 2"/>
          <p:cNvSpPr/>
          <p:nvPr/>
        </p:nvSpPr>
        <p:spPr>
          <a:xfrm>
            <a:off x="838200" y="2675000"/>
            <a:ext cx="3000000" cy="64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i="0" dirty="0">
                <a:solidFill>
                  <a:srgbClr val="FFFFFF"/>
                </a:solidFill>
                <a:latin typeface="Trebuchet MS"/>
              </a:rPr>
              <a:t>automation_core.py</a:t>
            </a:r>
          </a:p>
        </p:txBody>
      </p:sp>
      <p:sp>
        <p:nvSpPr>
          <p:cNvPr id="131" name="Module role 2"/>
          <p:cNvSpPr/>
          <p:nvPr/>
        </p:nvSpPr>
        <p:spPr>
          <a:xfrm>
            <a:off x="3838200" y="2675000"/>
            <a:ext cx="7515600" cy="64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222222"/>
                </a:solidFill>
                <a:latin typeface="Trebuchet MS"/>
              </a:rPr>
              <a:t>Scraping, parsing, cross-store matching and analytics</a:t>
            </a:r>
          </a:p>
        </p:txBody>
      </p:sp>
      <p:sp>
        <p:nvSpPr>
          <p:cNvPr id="132" name="Module name 3"/>
          <p:cNvSpPr/>
          <p:nvPr/>
        </p:nvSpPr>
        <p:spPr>
          <a:xfrm>
            <a:off x="838200" y="3400000"/>
            <a:ext cx="3000000" cy="64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i="0" dirty="0">
                <a:solidFill>
                  <a:srgbClr val="FFFFFF"/>
                </a:solidFill>
                <a:latin typeface="Trebuchet MS"/>
              </a:rPr>
              <a:t>app.py</a:t>
            </a:r>
          </a:p>
        </p:txBody>
      </p:sp>
      <p:sp>
        <p:nvSpPr>
          <p:cNvPr id="133" name="Module role 3"/>
          <p:cNvSpPr/>
          <p:nvPr/>
        </p:nvSpPr>
        <p:spPr>
          <a:xfrm>
            <a:off x="3838200" y="3400000"/>
            <a:ext cx="7515600" cy="64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222222"/>
                </a:solidFill>
                <a:latin typeface="Trebuchet MS"/>
              </a:rPr>
              <a:t>Flask API, job manager, SSE streaming, CSV/XLSX/JSON exports</a:t>
            </a:r>
          </a:p>
        </p:txBody>
      </p:sp>
      <p:sp>
        <p:nvSpPr>
          <p:cNvPr id="134" name="Module name 4"/>
          <p:cNvSpPr/>
          <p:nvPr/>
        </p:nvSpPr>
        <p:spPr>
          <a:xfrm>
            <a:off x="838200" y="4125000"/>
            <a:ext cx="3000000" cy="64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i="0" dirty="0">
                <a:solidFill>
                  <a:srgbClr val="FFFFFF"/>
                </a:solidFill>
                <a:latin typeface="Trebuchet MS"/>
              </a:rPr>
              <a:t>chatbot.py</a:t>
            </a:r>
          </a:p>
        </p:txBody>
      </p:sp>
      <p:sp>
        <p:nvSpPr>
          <p:cNvPr id="135" name="Module role 4"/>
          <p:cNvSpPr/>
          <p:nvPr/>
        </p:nvSpPr>
        <p:spPr>
          <a:xfrm>
            <a:off x="3838200" y="4125000"/>
            <a:ext cx="7515600" cy="64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222222"/>
                </a:solidFill>
                <a:latin typeface="Trebuchet MS"/>
              </a:rPr>
              <a:t>Data-aware assistant that answers from the actual results</a:t>
            </a:r>
          </a:p>
        </p:txBody>
      </p:sp>
      <p:sp>
        <p:nvSpPr>
          <p:cNvPr id="136" name="Module name 5"/>
          <p:cNvSpPr/>
          <p:nvPr/>
        </p:nvSpPr>
        <p:spPr>
          <a:xfrm>
            <a:off x="838200" y="4850000"/>
            <a:ext cx="3000000" cy="64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i="0" dirty="0">
                <a:solidFill>
                  <a:srgbClr val="FFFFFF"/>
                </a:solidFill>
                <a:latin typeface="Trebuchet MS"/>
              </a:rPr>
              <a:t>index.html</a:t>
            </a:r>
          </a:p>
        </p:txBody>
      </p:sp>
      <p:sp>
        <p:nvSpPr>
          <p:cNvPr id="137" name="Module role 5"/>
          <p:cNvSpPr/>
          <p:nvPr/>
        </p:nvSpPr>
        <p:spPr>
          <a:xfrm>
            <a:off x="3838200" y="4850000"/>
            <a:ext cx="7515600" cy="64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222222"/>
                </a:solidFill>
                <a:latin typeface="Trebuchet MS"/>
              </a:rPr>
              <a:t>Single-file dashboard: no build step, no CDN, works offline</a:t>
            </a:r>
          </a:p>
        </p:txBody>
      </p:sp>
      <p:sp>
        <p:nvSpPr>
          <p:cNvPr id="138" name="Module name 6"/>
          <p:cNvSpPr/>
          <p:nvPr/>
        </p:nvSpPr>
        <p:spPr>
          <a:xfrm>
            <a:off x="838200" y="5575000"/>
            <a:ext cx="3000000" cy="64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i="0" dirty="0">
                <a:solidFill>
                  <a:srgbClr val="FFFFFF"/>
                </a:solidFill>
                <a:latin typeface="Trebuchet MS"/>
              </a:rPr>
              <a:t>test_price_matrix.py</a:t>
            </a:r>
          </a:p>
        </p:txBody>
      </p:sp>
      <p:sp>
        <p:nvSpPr>
          <p:cNvPr id="139" name="Module role 6"/>
          <p:cNvSpPr/>
          <p:nvPr/>
        </p:nvSpPr>
        <p:spPr>
          <a:xfrm>
            <a:off x="3838200" y="5575000"/>
            <a:ext cx="7515600" cy="64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222222"/>
                </a:solidFill>
                <a:latin typeface="Trebuchet MS"/>
              </a:rPr>
              <a:t>Offline unit tests: no network or Chrome needed</a:t>
            </a:r>
          </a:p>
        </p:txBody>
      </p:sp>
    </p:spTree>
    <p:extLst>
      <p:ext uri="{BB962C8B-B14F-4D97-AF65-F5344CB8AC3E}">
        <p14:creationId xmlns:p14="http://schemas.microsoft.com/office/powerpoint/2010/main" val="3156619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8CF8C-2BDD-6010-6AD7-5EA18DA5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DE7717D-4D77-6308-9596-EA4B4A29ED38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93504F4-AD82-7021-F27D-60E881D82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Implementation: Matching Engine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5CE7E40-B369-623E-223E-8A607B5E9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0000"/>
            <a:ext cx="5000000" cy="3900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Category mismatch disqualifies a pair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A spec fingerprint rewards agreement, e.g. two 1.5 Ton 5 Star ACs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Conflicting specs are rejected: 16GB vs 8GB, UK 9 vs UK 10, 1 Pack vs Pack of 2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Accessories never match the product they attach 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Confidence below 0.42 reports "No match"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7CD585F3-CAA9-CAE7-DAA8-3C58D34F0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EAE96C-83DF-530A-844A-9A6ADE9AA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9520B5D-17CA-63E0-95CE-AC4DFA702EAA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Matching rules heading"/>
          <p:cNvSpPr/>
          <p:nvPr/>
        </p:nvSpPr>
        <p:spPr>
          <a:xfrm>
            <a:off x="838200" y="1850000"/>
            <a:ext cx="5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1F3864"/>
                </a:solidFill>
                <a:latin typeface="Trebuchet MS"/>
              </a:rPr>
              <a:t>Cross-store matching rules</a:t>
            </a:r>
          </a:p>
        </p:txBody>
      </p:sp>
      <p:sp>
        <p:nvSpPr>
          <p:cNvPr id="141" name="Spec tags heading"/>
          <p:cNvSpPr/>
          <p:nvPr/>
        </p:nvSpPr>
        <p:spPr>
          <a:xfrm>
            <a:off x="6150000" y="1850000"/>
            <a:ext cx="52038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1F3864"/>
                </a:solidFill>
                <a:latin typeface="Trebuchet MS"/>
              </a:rPr>
              <a:t>Category-aware spec tags</a:t>
            </a:r>
          </a:p>
        </p:txBody>
      </p:sp>
      <p:sp>
        <p:nvSpPr>
          <p:cNvPr id="142" name="Spec example 1"/>
          <p:cNvSpPr/>
          <p:nvPr/>
        </p:nvSpPr>
        <p:spPr>
          <a:xfrm>
            <a:off x="6150000" y="2300000"/>
            <a:ext cx="5203800" cy="90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200" b="0" i="0" dirty="0">
                <a:solidFill>
                  <a:srgbClr val="555555"/>
                </a:solidFill>
                <a:latin typeface="Trebuchet MS"/>
              </a:rPr>
              <a:t>Voltas 1.5 Ton 5 Star Inverter Split AC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dirty="0">
                <a:solidFill>
                  <a:srgbClr val="1F3864"/>
                </a:solidFill>
                <a:latin typeface="Trebuchet MS"/>
              </a:rPr>
              <a:t>Inverter Split AC | 1.5 Ton | 5 Star | Copper</a:t>
            </a:r>
          </a:p>
        </p:txBody>
      </p:sp>
      <p:sp>
        <p:nvSpPr>
          <p:cNvPr id="143" name="Spec example 2"/>
          <p:cNvSpPr/>
          <p:nvPr/>
        </p:nvSpPr>
        <p:spPr>
          <a:xfrm>
            <a:off x="6150000" y="3300000"/>
            <a:ext cx="5203800" cy="90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200" b="0" i="0" dirty="0">
                <a:solidFill>
                  <a:srgbClr val="555555"/>
                </a:solidFill>
                <a:latin typeface="Trebuchet MS"/>
              </a:rPr>
              <a:t>Nike Revolution 7 running shoes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dirty="0">
                <a:solidFill>
                  <a:srgbClr val="1F3864"/>
                </a:solidFill>
                <a:latin typeface="Trebuchet MS"/>
              </a:rPr>
              <a:t>Running | Men | UK 9 | Black</a:t>
            </a:r>
          </a:p>
        </p:txBody>
      </p:sp>
      <p:sp>
        <p:nvSpPr>
          <p:cNvPr id="144" name="Spec example 3"/>
          <p:cNvSpPr/>
          <p:nvPr/>
        </p:nvSpPr>
        <p:spPr>
          <a:xfrm>
            <a:off x="6150000" y="4300000"/>
            <a:ext cx="5203800" cy="90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200" b="0" i="0" dirty="0">
                <a:solidFill>
                  <a:srgbClr val="555555"/>
                </a:solidFill>
                <a:latin typeface="Trebuchet MS"/>
              </a:rPr>
              <a:t>Atomic Habits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dirty="0">
                <a:solidFill>
                  <a:srgbClr val="1F3864"/>
                </a:solidFill>
                <a:latin typeface="Trebuchet MS"/>
              </a:rPr>
              <a:t>Paperback | English | 320 Pages</a:t>
            </a:r>
          </a:p>
        </p:txBody>
      </p:sp>
      <p:sp>
        <p:nvSpPr>
          <p:cNvPr id="145" name="Spec example 4"/>
          <p:cNvSpPr/>
          <p:nvPr/>
        </p:nvSpPr>
        <p:spPr>
          <a:xfrm>
            <a:off x="6150000" y="5300000"/>
            <a:ext cx="5203800" cy="90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200" b="0" i="0" dirty="0">
                <a:solidFill>
                  <a:srgbClr val="555555"/>
                </a:solidFill>
                <a:latin typeface="Trebuchet MS"/>
              </a:rPr>
              <a:t>Philips Air Fryer 4.1 L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dirty="0">
                <a:solidFill>
                  <a:srgbClr val="1F3864"/>
                </a:solidFill>
                <a:latin typeface="Trebuchet MS"/>
              </a:rPr>
              <a:t>Air Fryer | 4.1 L | 1400 W</a:t>
            </a:r>
          </a:p>
        </p:txBody>
      </p:sp>
    </p:spTree>
    <p:extLst>
      <p:ext uri="{BB962C8B-B14F-4D97-AF65-F5344CB8AC3E}">
        <p14:creationId xmlns:p14="http://schemas.microsoft.com/office/powerpoint/2010/main" val="3156619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8CF8C-2BDD-6010-6AD7-5EA18DA5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DE7717D-4D77-6308-9596-EA4B4A29ED38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93504F4-AD82-7021-F27D-60E881D82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Implementation: Dashboard &amp; Chatbot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7CD585F3-CAA9-CAE7-DAA8-3C58D34F0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EAE96C-83DF-530A-844A-9A6ADE9AA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9520B5D-17CA-63E0-95CE-AC4DFA702EAA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Dashboard panel"/>
          <p:cNvSpPr/>
          <p:nvPr/>
        </p:nvSpPr>
        <p:spPr>
          <a:xfrm>
            <a:off x="838200" y="1900000"/>
            <a:ext cx="5150000" cy="260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n-IN" sz="1800" b="1" i="0" dirty="0">
                <a:solidFill>
                  <a:srgbClr val="1F3864"/>
                </a:solidFill>
                <a:latin typeface="Trebuchet MS"/>
              </a:rPr>
              <a:t>Dashboard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Dark/light theme, 3 chart modes, 5 KPI cards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Filters: store, category, price, matched-only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Compare drawer with a savings verdict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Live progress over SSE; CSV/XLSX/JSON export</a:t>
            </a:r>
          </a:p>
        </p:txBody>
      </p:sp>
      <p:sp>
        <p:nvSpPr>
          <p:cNvPr id="147" name="Assistant panel"/>
          <p:cNvSpPr/>
          <p:nvPr/>
        </p:nvSpPr>
        <p:spPr>
          <a:xfrm>
            <a:off x="6203800" y="1900000"/>
            <a:ext cx="5150000" cy="2600000"/>
          </a:xfrm>
          <a:prstGeom prst="rect">
            <a:avLst/>
          </a:prstGeom>
          <a:solidFill>
            <a:srgbClr val="EAF0FA"/>
          </a:solidFill>
          <a:ln w="9525">
            <a:solidFill>
              <a:srgbClr val="BFCBE3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n-IN" sz="1800" b="1" i="0" dirty="0">
                <a:solidFill>
                  <a:srgbClr val="1F3864"/>
                </a:solidFill>
                <a:latin typeface="Trebuchet MS"/>
              </a:rPr>
              <a:t>Data-aware assistant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"Cheapest under 50k", "which store is cheaper?"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Understands 1.5 ton, UK 9, 5 star, A4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Filters by category and isolates accessories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Offline and deterministic: no API keys</a:t>
            </a:r>
          </a:p>
        </p:txBody>
      </p:sp>
      <p:sp>
        <p:nvSpPr>
          <p:cNvPr id="148" name="Fix 1"/>
          <p:cNvSpPr/>
          <p:nvPr/>
        </p:nvSpPr>
        <p:spPr>
          <a:xfrm>
            <a:off x="838200" y="4700000"/>
            <a:ext cx="3400000" cy="15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FFFFFF"/>
                </a:solidFill>
                <a:latin typeface="Trebuchet MS"/>
              </a:rPr>
              <a:t>60+ of 110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b="0" i="0" dirty="0">
                <a:solidFill>
                  <a:srgbClr val="FFFFFF"/>
                </a:solidFill>
                <a:latin typeface="Trebuchet MS"/>
              </a:rPr>
              <a:t>junk price-text rows dropped from the old earbuds export</a:t>
            </a:r>
          </a:p>
        </p:txBody>
      </p:sp>
      <p:sp>
        <p:nvSpPr>
          <p:cNvPr id="149" name="Fix 2"/>
          <p:cNvSpPr/>
          <p:nvPr/>
        </p:nvSpPr>
        <p:spPr>
          <a:xfrm>
            <a:off x="4396000" y="4700000"/>
            <a:ext cx="3400000" cy="15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FFFFFF"/>
                </a:solidFill>
                <a:latin typeface="Trebuchet MS"/>
              </a:rPr>
              <a:t>Rs 64,550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b="0" i="0" dirty="0">
                <a:solidFill>
                  <a:srgbClr val="FFFFFF"/>
                </a:solidFill>
                <a:latin typeface="Trebuchet MS"/>
              </a:rPr>
              <a:t>false saving on a Rs 449 back cover vs a phone, now blocked</a:t>
            </a:r>
          </a:p>
        </p:txBody>
      </p:sp>
      <p:sp>
        <p:nvSpPr>
          <p:cNvPr id="150" name="Fix 3"/>
          <p:cNvSpPr/>
          <p:nvPr/>
        </p:nvSpPr>
        <p:spPr>
          <a:xfrm>
            <a:off x="7953800" y="4700000"/>
            <a:ext cx="3400000" cy="15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FFFFFF"/>
                </a:solidFill>
                <a:latin typeface="Trebuchet MS"/>
              </a:rPr>
              <a:t>Cancel-safe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b="0" i="0" dirty="0">
                <a:solidFill>
                  <a:srgbClr val="FFFFFF"/>
                </a:solidFill>
                <a:latin typeface="Trebuchet MS"/>
              </a:rPr>
              <a:t>cancel stops the scrape; partial results stay exportable</a:t>
            </a:r>
          </a:p>
        </p:txBody>
      </p:sp>
    </p:spTree>
    <p:extLst>
      <p:ext uri="{BB962C8B-B14F-4D97-AF65-F5344CB8AC3E}">
        <p14:creationId xmlns:p14="http://schemas.microsoft.com/office/powerpoint/2010/main" val="3156619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4BAFA-C592-6E55-F818-230D80E53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A917874-E942-8E27-5727-4CF761368A00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797BE05-8F59-7FA4-8DFC-C78CE047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Conclusion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76252F9-7407-F97F-6D97-2D0D9E646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5900000" cy="4300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Price Matrix v3 compares any product category, not just laptops and phones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Matching prefers a missed match over a fake saving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A failed selector costs one column, and a blocked store never loses the other store's data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Everything runs locally: no API keys, no external requests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EB1D0318-6550-EC88-F3AF-851BB4016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621C906-46E9-BD68-7B7C-DF38DA05B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CAD0B6-0563-E4E4-4ADE-CCEEE57C51FF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Future scope"/>
          <p:cNvSpPr/>
          <p:nvPr/>
        </p:nvSpPr>
        <p:spPr>
          <a:xfrm>
            <a:off x="7000000" y="1950000"/>
            <a:ext cx="4353800" cy="33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228600" tIns="137160" rIns="228600" bIns="13716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  <a:latin typeface="Trebuchet MS"/>
              </a:rPr>
              <a:t>Future scope</a:t>
            </a:r>
          </a:p>
          <a:p>
            <a:pPr marL="228600" indent="-22860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IN" sz="1400" b="0" i="0" dirty="0">
                <a:solidFill>
                  <a:srgbClr val="FFFFFF"/>
                </a:solidFill>
                <a:latin typeface="Trebuchet MS"/>
              </a:rPr>
              <a:t>Update selectors as the stores change their markup</a:t>
            </a:r>
          </a:p>
          <a:p>
            <a:pPr marL="228600" indent="-228600" algn="l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IN" sz="1400" b="0" i="0" dirty="0">
                <a:solidFill>
                  <a:srgbClr val="FFFFFF"/>
                </a:solidFill>
                <a:latin typeface="Trebuchet MS"/>
              </a:rPr>
              <a:t>Use official APIs or affiliate feeds for production use</a:t>
            </a:r>
          </a:p>
          <a:p>
            <a:pPr marL="228600" indent="-2286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IN" sz="1400" b="0" i="0" dirty="0">
                <a:solidFill>
                  <a:srgbClr val="FFFFFF"/>
                </a:solidFill>
                <a:latin typeface="Trebuchet MS"/>
              </a:rPr>
              <a:t>Serve behind waitress or gunicorn when shared</a:t>
            </a:r>
          </a:p>
        </p:txBody>
      </p:sp>
    </p:spTree>
    <p:extLst>
      <p:ext uri="{BB962C8B-B14F-4D97-AF65-F5344CB8AC3E}">
        <p14:creationId xmlns:p14="http://schemas.microsoft.com/office/powerpoint/2010/main" val="3282002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0740A-1926-004E-5F53-EC1D463A3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0D6604C-0111-798A-182A-4B4A8088B877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0E60A89-A293-BACC-B000-32B562FF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References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3F3E7E9-D890-6368-D23D-EC75E5D44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300000"/>
          </a:xfrm>
        </p:spPr>
        <p:txBody>
          <a:bodyPr>
            <a:norm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+mj-lt"/>
              <a:buAutoNum type="arabicPeriod"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Selenium documentation and Selenium Manager: selenium.dev/documentation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+mj-lt"/>
              <a:buAutoNum type="arabicPeriod"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Flask documentation: flask.palletsprojects.com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+mj-lt"/>
              <a:buAutoNum type="arabicPeriod"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Server-sent events, MDN Web Docs: developer.mozilla.org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+mj-lt"/>
              <a:buAutoNum type="arabicPeriod"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Python unittest documentation: docs.python.org/3/library/unittest.html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+mj-lt"/>
              <a:buAutoNum type="arabicPeriod"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Data sources: amazon.in and flipkart.com (personal and educational use)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+mj-lt"/>
              <a:buAutoNum type="arabicPeriod"/>
            </a:pPr>
            <a:r>
              <a:rPr lang="en-IN" sz="1600" b="0" i="0" dirty="0">
                <a:solidFill>
                  <a:srgbClr val="222222"/>
                </a:solidFill>
                <a:latin typeface="Trebuchet MS"/>
              </a:rPr>
              <a:t>Price Matrix v3 project README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F82CFBCD-7126-3AE3-561D-39FAD29A7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EC357A8-5422-9E9E-6C0A-8206D4E0F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3B6F4C-2D37-AAF2-8965-565DA634178C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16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</TotalTime>
  <Words>805</Words>
  <Application>Microsoft Office PowerPoint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Trebuchet MS</vt:lpstr>
      <vt:lpstr>Office Theme</vt:lpstr>
      <vt:lpstr>    </vt:lpstr>
      <vt:lpstr>Outline</vt:lpstr>
      <vt:lpstr>Introduction</vt:lpstr>
      <vt:lpstr>Objectives</vt:lpstr>
      <vt:lpstr>Methodology Used</vt:lpstr>
      <vt:lpstr>Implementation: Architecture</vt:lpstr>
      <vt:lpstr>Implementation: Matching Engine</vt:lpstr>
      <vt:lpstr>Implementation: Dashboard &amp; Chatbot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</dc:title>
  <dc:creator>Suyash Shukla</dc:creator>
  <cp:lastModifiedBy>Mohd Taha</cp:lastModifiedBy>
  <cp:revision>8</cp:revision>
  <dcterms:created xsi:type="dcterms:W3CDTF">2024-08-24T09:30:54Z</dcterms:created>
  <dcterms:modified xsi:type="dcterms:W3CDTF">2026-10-13T15:00:54Z</dcterms:modified>
</cp:coreProperties>
</file>